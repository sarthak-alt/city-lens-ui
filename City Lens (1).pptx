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7" d="100"/>
          <a:sy n="87" d="100"/>
        </p:scale>
        <p:origin x="68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269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0" y="-914400"/>
            <a:ext cx="4572000" cy="36576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Shape 20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 w="12700">
            <a:solidFill>
              <a:srgbClr val="A855F7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502920"/>
            <a:ext cx="2560320" cy="29260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02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60A5FA"/>
                </a:solidFill>
              </a:rPr>
              <a:t>🏙  AI-POWERED CIVIC PLATFORM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914399"/>
            <a:ext cx="7132320" cy="14813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640080" y="9144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 Lens</a:t>
            </a:r>
            <a:endParaRPr lang="en-US" sz="7000" dirty="0"/>
          </a:p>
        </p:txBody>
      </p:sp>
      <p:sp>
        <p:nvSpPr>
          <p:cNvPr id="27" name="Text 25"/>
          <p:cNvSpPr/>
          <p:nvPr/>
        </p:nvSpPr>
        <p:spPr>
          <a:xfrm>
            <a:off x="731520" y="2303085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Your Eyes. Our AI. Smarter Cities.</a:t>
            </a:r>
          </a:p>
        </p:txBody>
      </p:sp>
      <p:sp>
        <p:nvSpPr>
          <p:cNvPr id="28" name="Shape 26"/>
          <p:cNvSpPr/>
          <p:nvPr/>
        </p:nvSpPr>
        <p:spPr>
          <a:xfrm>
            <a:off x="640080" y="3200400"/>
            <a:ext cx="1920240" cy="777240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12,847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" y="3547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Reported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0" y="3200400"/>
            <a:ext cx="1920240" cy="777240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743200" y="3547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3200400"/>
            <a:ext cx="1920240" cy="777240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 Days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46320" y="3547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49440" y="3200400"/>
            <a:ext cx="1920240" cy="777240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49440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Pages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49440" y="3547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008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[Sarthak Goel, Rohan Mehra, </a:t>
            </a:r>
            <a:r>
              <a:rPr lang="en-US" sz="1400" dirty="0" err="1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Sachchidanand</a:t>
            </a:r>
            <a:r>
              <a:rPr lang="en-US" sz="14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Gupta, Sanskar]  |  Project: City Lens  |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F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&amp; 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502920"/>
          </a:xfrm>
          <a:prstGeom prst="rect">
            <a:avLst/>
          </a:prstGeom>
          <a:solidFill>
            <a:srgbClr val="192336"/>
          </a:solidFill>
          <a:ln w="12700">
            <a:solidFill>
              <a:srgbClr val="5A7A9A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Citizens have no easy way to report civic issues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4114800" cy="502920"/>
          </a:xfrm>
          <a:prstGeom prst="rect">
            <a:avLst/>
          </a:prstGeom>
          <a:solidFill>
            <a:srgbClr val="192336"/>
          </a:solidFill>
          <a:ln w="12700">
            <a:solidFill>
              <a:srgbClr val="5A7A9A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105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 Complaints get lost — no tracking or follow-up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32304"/>
            <a:ext cx="4114800" cy="502920"/>
          </a:xfrm>
          <a:prstGeom prst="rect">
            <a:avLst/>
          </a:prstGeom>
          <a:solidFill>
            <a:srgbClr val="192336"/>
          </a:solidFill>
          <a:ln w="12700">
            <a:solidFill>
              <a:srgbClr val="5A7A9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3230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Manual routing wastes time &amp; resources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54096"/>
            <a:ext cx="4114800" cy="502920"/>
          </a:xfrm>
          <a:prstGeom prst="rect">
            <a:avLst/>
          </a:prstGeom>
          <a:solidFill>
            <a:srgbClr val="192336"/>
          </a:solidFill>
          <a:ln w="12700">
            <a:solidFill>
              <a:srgbClr val="5A7A9A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5409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data-driven insights for city officials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75888"/>
            <a:ext cx="4114800" cy="502920"/>
          </a:xfrm>
          <a:prstGeom prst="rect">
            <a:avLst/>
          </a:prstGeom>
          <a:solidFill>
            <a:srgbClr val="192336"/>
          </a:solidFill>
          <a:ln w="12700">
            <a:solidFill>
              <a:srgbClr val="5A7A9A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758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🔕  No notifications — citizens left in the dark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640080"/>
            <a:ext cx="0" cy="4206240"/>
          </a:xfrm>
          <a:prstGeom prst="line">
            <a:avLst/>
          </a:prstGeom>
          <a:noFill/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685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1188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Lens is a web platform where citizens can report city problems with just a photo. AI automatically classifies the issue, assigns priority, routes it to the right department, and tracks resolution — all in real-time.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240280"/>
            <a:ext cx="3840480" cy="50292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240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Smart + Automated + Data-Driven complaint management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852928"/>
            <a:ext cx="3840480" cy="438912"/>
          </a:xfrm>
          <a:prstGeom prst="rect">
            <a:avLst/>
          </a:prstGeom>
          <a:solidFill>
            <a:srgbClr val="141F33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852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Photo upload → AI auto-detection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383280"/>
            <a:ext cx="3840480" cy="438912"/>
          </a:xfrm>
          <a:prstGeom prst="rect">
            <a:avLst/>
          </a:prstGeom>
          <a:solidFill>
            <a:srgbClr val="141F33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3832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Auto priority scoring &amp; routing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913632"/>
            <a:ext cx="3840480" cy="438912"/>
          </a:xfrm>
          <a:prstGeom prst="rect">
            <a:avLst/>
          </a:prstGeom>
          <a:solidFill>
            <a:srgbClr val="141F33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9136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Live geo heatmap for officials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4443984"/>
            <a:ext cx="3840480" cy="438912"/>
          </a:xfrm>
          <a:prstGeom prst="rect">
            <a:avLst/>
          </a:prstGeom>
          <a:solidFill>
            <a:srgbClr val="141F33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444398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Admin analytics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F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modern, industry-standard technologies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691640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97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  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React.js(Component UI)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Tailwind CSS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844091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Google Maps  API</a:t>
            </a:r>
          </a:p>
        </p:txBody>
      </p:sp>
      <p:sp>
        <p:nvSpPr>
          <p:cNvPr id="11" name="Text 9"/>
          <p:cNvSpPr/>
          <p:nvPr/>
        </p:nvSpPr>
        <p:spPr>
          <a:xfrm>
            <a:off x="498348" y="2063547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Chart.js (Analytics)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51760" cy="1691640"/>
          </a:xfrm>
          <a:prstGeom prst="rect">
            <a:avLst/>
          </a:prstGeom>
          <a:solidFill>
            <a:srgbClr val="192336"/>
          </a:solidFill>
          <a:ln w="12700">
            <a:solidFill>
              <a:srgbClr val="A855F7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05840"/>
            <a:ext cx="265176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097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  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4447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Node.js+ Express.js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17373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Authentication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20299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 API Architecture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232257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Socket.io (Real-time)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005840"/>
            <a:ext cx="2651760" cy="1691640"/>
          </a:xfrm>
          <a:prstGeom prst="rect">
            <a:avLst/>
          </a:prstGeom>
          <a:solidFill>
            <a:srgbClr val="192336"/>
          </a:solidFill>
          <a:ln w="12700">
            <a:solidFill>
              <a:srgbClr val="22C55E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005840"/>
            <a:ext cx="26517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144768" y="1097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🗄  Database &amp; Storage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14447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MongoDB (Geospatial Support)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72200" y="17373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72200" y="20299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49340" y="16093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Cloudinary (Images)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6127" y="2811741"/>
            <a:ext cx="4114800" cy="1719072"/>
          </a:xfrm>
          <a:prstGeom prst="rect">
            <a:avLst/>
          </a:prstGeom>
          <a:solidFill>
            <a:srgbClr val="192336"/>
          </a:solidFill>
          <a:ln w="12700">
            <a:solidFill>
              <a:srgbClr val="F97316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880360"/>
            <a:ext cx="41148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2971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AI / ML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33192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r>
              <a:rPr lang="en-US" sz="950" dirty="0" err="1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 </a:t>
            </a:r>
            <a:r>
              <a:rPr lang="en-US" sz="950" dirty="0" err="1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Training+Deployment</a:t>
            </a: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3611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3904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4197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7337" y="2838431"/>
            <a:ext cx="4114800" cy="1719072"/>
          </a:xfrm>
          <a:prstGeom prst="rect">
            <a:avLst/>
          </a:prstGeom>
          <a:solidFill>
            <a:srgbClr val="192336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88036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2971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Deployment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73168" y="3350495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Render / Railway Deploy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73168" y="356459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.env Secret Management</a:t>
            </a:r>
            <a:endParaRPr lang="en-US" sz="95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D71DCE0-1F36-4C6F-E300-46D238EF4903}"/>
              </a:ext>
            </a:extLst>
          </p:cNvPr>
          <p:cNvSpPr/>
          <p:nvPr/>
        </p:nvSpPr>
        <p:spPr>
          <a:xfrm>
            <a:off x="493776" y="2255571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Socket.io Client(Real Time Analysis)</a:t>
            </a:r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5CB7E3FB-8B30-8AA9-AD15-226D285F2E7B}"/>
              </a:ext>
            </a:extLst>
          </p:cNvPr>
          <p:cNvSpPr/>
          <p:nvPr/>
        </p:nvSpPr>
        <p:spPr>
          <a:xfrm>
            <a:off x="480060" y="239887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Axios</a:t>
            </a:r>
          </a:p>
        </p:txBody>
      </p:sp>
      <p:sp>
        <p:nvSpPr>
          <p:cNvPr id="42" name="Text 27">
            <a:extLst>
              <a:ext uri="{FF2B5EF4-FFF2-40B4-BE49-F238E27FC236}">
                <a16:creationId xmlns:a16="http://schemas.microsoft.com/office/drawing/2014/main" id="{DBA724C2-8B5E-B617-7788-B931A7A70FFE}"/>
              </a:ext>
            </a:extLst>
          </p:cNvPr>
          <p:cNvSpPr/>
          <p:nvPr/>
        </p:nvSpPr>
        <p:spPr>
          <a:xfrm>
            <a:off x="483287" y="3471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▸Image Classification</a:t>
            </a:r>
            <a:endParaRPr lang="en-US" sz="950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5F7DE155-F4ED-FD05-7F85-4E3FA415FA72}"/>
              </a:ext>
            </a:extLst>
          </p:cNvPr>
          <p:cNvSpPr/>
          <p:nvPr/>
        </p:nvSpPr>
        <p:spPr>
          <a:xfrm>
            <a:off x="521208" y="3654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r>
              <a:rPr lang="en-US" sz="950" dirty="0" err="1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r>
              <a:rPr lang="en-US" sz="9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API(Prediction)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F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 &amp;  SYSTEM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965960" cy="1051560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499616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 Upload +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 → instant classification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1078992"/>
            <a:ext cx="1965960" cy="1051560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704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42032" y="1499616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Engine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42032" y="171907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severity × votes × zone × days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1965960" cy="1051560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591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8912" y="2688336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Map + Heatmap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90779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pins &amp; hotspot visualization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68880" y="2267712"/>
            <a:ext cx="1965960" cy="1051560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3591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542032" y="2688336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42032" y="290779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analytics, alerts &amp; SLA tracking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1965960" cy="1051560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4787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38912" y="3877056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409651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Email at every status change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68880" y="3456432"/>
            <a:ext cx="1965960" cy="1051560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354787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542032" y="3877056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 Gamification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42032" y="409651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badges, citizen leaderboard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594360"/>
            <a:ext cx="0" cy="4251960"/>
          </a:xfrm>
          <a:prstGeom prst="line">
            <a:avLst/>
          </a:prstGeom>
          <a:noFill/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640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892040" y="1133856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79492" y="1517904"/>
            <a:ext cx="0" cy="219456"/>
          </a:xfrm>
          <a:prstGeom prst="line">
            <a:avLst/>
          </a:prstGeom>
          <a:noFill/>
          <a:ln w="190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4960" y="1097280"/>
            <a:ext cx="3383280" cy="457200"/>
          </a:xfrm>
          <a:prstGeom prst="rect">
            <a:avLst/>
          </a:prstGeom>
          <a:solidFill>
            <a:srgbClr val="141F33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uploads photo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1773936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79492" y="2157984"/>
            <a:ext cx="0" cy="219456"/>
          </a:xfrm>
          <a:prstGeom prst="line">
            <a:avLst/>
          </a:prstGeom>
          <a:noFill/>
          <a:ln w="1905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94960" y="1737360"/>
            <a:ext cx="3383280" cy="457200"/>
          </a:xfrm>
          <a:prstGeom prst="rect">
            <a:avLst/>
          </a:prstGeom>
          <a:solidFill>
            <a:srgbClr val="141F33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issue + severity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92040" y="2414016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79492" y="2798064"/>
            <a:ext cx="0" cy="219456"/>
          </a:xfrm>
          <a:prstGeom prst="line">
            <a:avLst/>
          </a:prstGeom>
          <a:noFill/>
          <a:ln w="1905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94960" y="2377440"/>
            <a:ext cx="3383280" cy="457200"/>
          </a:xfrm>
          <a:prstGeom prst="rect">
            <a:avLst/>
          </a:prstGeom>
          <a:solidFill>
            <a:srgbClr val="141F33"/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calculated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92040" y="305409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079492" y="3438144"/>
            <a:ext cx="0" cy="219456"/>
          </a:xfrm>
          <a:prstGeom prst="line">
            <a:avLst/>
          </a:prstGeom>
          <a:noFill/>
          <a:ln w="190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94960" y="3017520"/>
            <a:ext cx="3383280" cy="457200"/>
          </a:xfrm>
          <a:prstGeom prst="rect">
            <a:avLst/>
          </a:prstGeom>
          <a:solidFill>
            <a:srgbClr val="141F33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Auto-routed to department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92040" y="369417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079492" y="4078224"/>
            <a:ext cx="0" cy="219456"/>
          </a:xfrm>
          <a:prstGeom prst="line">
            <a:avLst/>
          </a:prstGeom>
          <a:noFill/>
          <a:ln w="190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94960" y="3657600"/>
            <a:ext cx="3383280" cy="457200"/>
          </a:xfrm>
          <a:prstGeom prst="rect">
            <a:avLst/>
          </a:prstGeom>
          <a:solidFill>
            <a:srgbClr val="141F33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team resolves issue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92040" y="433425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394960" y="4297680"/>
            <a:ext cx="3383280" cy="457200"/>
          </a:xfrm>
          <a:prstGeom prst="rect">
            <a:avLst/>
          </a:prstGeom>
          <a:solidFill>
            <a:srgbClr val="141F33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gets notified 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F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MODULE  &amp;  PRIORITY  CALCULATION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AI Classification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84048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000" b="1" dirty="0" err="1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Free  |  API Integration  |  Fast Development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1325880" cy="566928"/>
          </a:xfrm>
          <a:prstGeom prst="rect">
            <a:avLst/>
          </a:prstGeom>
          <a:solidFill>
            <a:srgbClr val="192336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013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203704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83080" y="1783080"/>
            <a:ext cx="1325880" cy="566928"/>
          </a:xfrm>
          <a:prstGeom prst="rect">
            <a:avLst/>
          </a:prstGeom>
          <a:solidFill>
            <a:srgbClr val="192336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18013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83080" y="20574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83080" y="2203704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0" y="1783080"/>
            <a:ext cx="1325880" cy="566928"/>
          </a:xfrm>
          <a:prstGeom prst="rect">
            <a:avLst/>
          </a:prstGeom>
          <a:solidFill>
            <a:srgbClr val="192336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8013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20574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0" y="2203704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2441448"/>
            <a:ext cx="1325880" cy="566928"/>
          </a:xfrm>
          <a:prstGeom prst="rect">
            <a:avLst/>
          </a:prstGeom>
          <a:solidFill>
            <a:srgbClr val="192336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4597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271576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Light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2862072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783080" y="2441448"/>
            <a:ext cx="1325880" cy="566928"/>
          </a:xfrm>
          <a:prstGeom prst="rect">
            <a:avLst/>
          </a:prstGeom>
          <a:solidFill>
            <a:srgbClr val="192336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24597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🚧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83080" y="271576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Infra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783080" y="2862072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0" y="2441448"/>
            <a:ext cx="1325880" cy="566928"/>
          </a:xfrm>
          <a:prstGeom prst="rect">
            <a:avLst/>
          </a:prstGeom>
          <a:solidFill>
            <a:srgbClr val="192336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24597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00400" y="271576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Sewage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0" y="2862072"/>
            <a:ext cx="1325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3154680"/>
            <a:ext cx="4114800" cy="594360"/>
          </a:xfrm>
          <a:prstGeom prst="rect">
            <a:avLst/>
          </a:prstGeom>
          <a:solidFill>
            <a:srgbClr val="141F33"/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18211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EXAMPLE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" y="33284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category: "Pothole", confidence: 0.92, severity: "HIGH", score: 8.2, dept: "PWD" }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594360"/>
            <a:ext cx="0" cy="4251960"/>
          </a:xfrm>
          <a:prstGeom prst="line">
            <a:avLst/>
          </a:prstGeom>
          <a:noFill/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640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🧮  Priority Calculation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892040" y="1051560"/>
            <a:ext cx="3931920" cy="38404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= Weighted formula (0–100)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1572768"/>
            <a:ext cx="3931920" cy="475488"/>
          </a:xfrm>
          <a:prstGeom prst="rect">
            <a:avLst/>
          </a:prstGeom>
          <a:solidFill>
            <a:srgbClr val="192336"/>
          </a:solidFill>
          <a:ln w="1270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1572768"/>
            <a:ext cx="54864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157276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Severity Score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78040" y="157276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0.4  (40%)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92040" y="2139696"/>
            <a:ext cx="3931920" cy="475488"/>
          </a:xfrm>
          <a:prstGeom prst="rect">
            <a:avLst/>
          </a:prstGeom>
          <a:solidFill>
            <a:srgbClr val="192336"/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92040" y="2139696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213969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Upvotes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78040" y="213969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0.2  (20%)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92040" y="2706624"/>
            <a:ext cx="3931920" cy="475488"/>
          </a:xfrm>
          <a:prstGeom prst="rect">
            <a:avLst/>
          </a:prstGeom>
          <a:solidFill>
            <a:srgbClr val="192336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92040" y="2706624"/>
            <a:ext cx="54864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0" y="270662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Density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178040" y="270662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0.2  (20%)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92040" y="3273552"/>
            <a:ext cx="3931920" cy="475488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2040" y="3273552"/>
            <a:ext cx="54864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0" y="32735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Pending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178040" y="327355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0.2  (20%)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92040" y="38862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Levels: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92040" y="4114800"/>
            <a:ext cx="914400" cy="43891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892040" y="4315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897880" y="4114800"/>
            <a:ext cx="914400" cy="438912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9788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897880" y="4315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60–79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903720" y="4114800"/>
            <a:ext cx="914400" cy="43891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0372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903720" y="4315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40–59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909560" y="4114800"/>
            <a:ext cx="914400" cy="438912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0956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909560" y="4315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0–39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F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SCHEMA  &amp;  PLATFORM  PAGES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🗄  Database Schema (MongoDB)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14800" cy="1389888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4114800" cy="292608"/>
          </a:xfrm>
          <a:prstGeom prst="rect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24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 User Schema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name, email, phone, password (hashed)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ward, zone, role (citizen/admin)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civic_points, verified, created_at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4114800" cy="1810512"/>
          </a:xfrm>
          <a:prstGeom prst="rect">
            <a:avLst/>
          </a:prstGeom>
          <a:solidFill>
            <a:srgbClr val="192336"/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87168"/>
            <a:ext cx="4114800" cy="292608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487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Complaint Schema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title, description, category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photo_url, ai_label, confidence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severity, priority_score, status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location: { lat, lng, ward, zone 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upvotes, dept_assigned, created_at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594360"/>
            <a:ext cx="0" cy="4251960"/>
          </a:xfrm>
          <a:prstGeom prst="line">
            <a:avLst/>
          </a:prstGeom>
          <a:noFill/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640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🧩  Platform Pages (6 Total)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92040" y="1024128"/>
            <a:ext cx="3931920" cy="566928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024128"/>
            <a:ext cx="54864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5010912" y="1115568"/>
            <a:ext cx="329184" cy="329184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10698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12984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stats, features overview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1709928"/>
            <a:ext cx="3931920" cy="566928"/>
          </a:xfrm>
          <a:prstGeom prst="rect">
            <a:avLst/>
          </a:prstGeom>
          <a:solidFill>
            <a:srgbClr val="192336"/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1709928"/>
            <a:ext cx="54864" cy="5669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9" name="Shape 27"/>
          <p:cNvSpPr/>
          <p:nvPr/>
        </p:nvSpPr>
        <p:spPr>
          <a:xfrm>
            <a:off x="5010912" y="1801368"/>
            <a:ext cx="329184" cy="32918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0680" y="17556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Pages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19842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/ Sign Up with OTP &amp; Google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92040" y="2395728"/>
            <a:ext cx="3931920" cy="566928"/>
          </a:xfrm>
          <a:prstGeom prst="rect">
            <a:avLst/>
          </a:prstGeom>
          <a:solidFill>
            <a:srgbClr val="192336"/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2395728"/>
            <a:ext cx="54864" cy="5669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5" name="Shape 33"/>
          <p:cNvSpPr/>
          <p:nvPr/>
        </p:nvSpPr>
        <p:spPr>
          <a:xfrm>
            <a:off x="5010912" y="2487168"/>
            <a:ext cx="329184" cy="329184"/>
          </a:xfrm>
          <a:prstGeom prst="ellipse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40680" y="24414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Issue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26700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 + AI + location picker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92040" y="3081528"/>
            <a:ext cx="3931920" cy="566928"/>
          </a:xfrm>
          <a:prstGeom prst="rect">
            <a:avLst/>
          </a:prstGeom>
          <a:solidFill>
            <a:srgbClr val="192336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3081528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Shape 39"/>
          <p:cNvSpPr/>
          <p:nvPr/>
        </p:nvSpPr>
        <p:spPr>
          <a:xfrm>
            <a:off x="5010912" y="3172968"/>
            <a:ext cx="329184" cy="329184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40680" y="31272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Complaints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40680" y="33558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Track, filter &amp; search your reports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92040" y="3767328"/>
            <a:ext cx="3931920" cy="566928"/>
          </a:xfrm>
          <a:prstGeom prst="rect">
            <a:avLst/>
          </a:prstGeom>
          <a:solidFill>
            <a:srgbClr val="192336"/>
          </a:solidFill>
          <a:ln w="1270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92040" y="3767328"/>
            <a:ext cx="54864" cy="5669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7" name="Shape 45"/>
          <p:cNvSpPr/>
          <p:nvPr/>
        </p:nvSpPr>
        <p:spPr>
          <a:xfrm>
            <a:off x="5010912" y="3858768"/>
            <a:ext cx="329184" cy="329184"/>
          </a:xfrm>
          <a:prstGeom prst="ellipse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40680" y="38130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View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40680" y="40416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geo pins + heatmap + feed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92040" y="4453128"/>
            <a:ext cx="3931920" cy="566928"/>
          </a:xfrm>
          <a:prstGeom prst="rect">
            <a:avLst/>
          </a:prstGeom>
          <a:solidFill>
            <a:srgbClr val="192336"/>
          </a:solidFill>
          <a:ln w="1270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2040" y="4453128"/>
            <a:ext cx="54864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3" name="Shape 51"/>
          <p:cNvSpPr/>
          <p:nvPr/>
        </p:nvSpPr>
        <p:spPr>
          <a:xfrm>
            <a:off x="5010912" y="4544568"/>
            <a:ext cx="329184" cy="329184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10912" y="4544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40680" y="44988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40680" y="47274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charts, alerts, team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-914400" y="2743200"/>
            <a:ext cx="5486400" cy="4572000"/>
          </a:xfrm>
          <a:prstGeom prst="ellipse">
            <a:avLst/>
          </a:prstGeom>
          <a:solidFill>
            <a:srgbClr val="3B82F6">
              <a:alpha val="7000"/>
            </a:srgbClr>
          </a:solidFill>
          <a:ln w="12700">
            <a:solidFill>
              <a:srgbClr val="3B82F6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-914400"/>
            <a:ext cx="45720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 w="12700">
            <a:solidFill>
              <a:srgbClr val="A855F7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&amp;  CONCLUSION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Impact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57200" y="1115568"/>
            <a:ext cx="1920240" cy="1417320"/>
          </a:xfrm>
          <a:prstGeom prst="rect">
            <a:avLst/>
          </a:prstGeom>
          <a:solidFill>
            <a:srgbClr val="192336"/>
          </a:solidFill>
          <a:ln w="12700">
            <a:solidFill>
              <a:srgbClr val="22C55E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1115568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12070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57200" y="171907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Resolution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19476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manual systems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42032" y="1115568"/>
            <a:ext cx="1920240" cy="1417320"/>
          </a:xfrm>
          <a:prstGeom prst="rect">
            <a:avLst/>
          </a:prstGeom>
          <a:solidFill>
            <a:srgbClr val="192336"/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42032" y="1115568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2542032" y="12070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2542032" y="171907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Accuracy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42032" y="19476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civic issue detection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26864" y="1115568"/>
            <a:ext cx="1920240" cy="1417320"/>
          </a:xfrm>
          <a:prstGeom prst="rect">
            <a:avLst/>
          </a:prstGeom>
          <a:solidFill>
            <a:srgbClr val="192336"/>
          </a:solidFill>
          <a:ln w="12700">
            <a:solidFill>
              <a:srgbClr val="A855F7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26864" y="1115568"/>
            <a:ext cx="192024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7" name="Text 35"/>
          <p:cNvSpPr/>
          <p:nvPr/>
        </p:nvSpPr>
        <p:spPr>
          <a:xfrm>
            <a:off x="4626864" y="12070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5x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626864" y="171907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 Efficiency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26864" y="19476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smart auto-routing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11696" y="1115568"/>
            <a:ext cx="1920240" cy="1417320"/>
          </a:xfrm>
          <a:prstGeom prst="rect">
            <a:avLst/>
          </a:prstGeom>
          <a:solidFill>
            <a:srgbClr val="192336"/>
          </a:solidFill>
          <a:ln w="12700">
            <a:solidFill>
              <a:srgbClr val="F97316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11696" y="1115568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2" name="Text 40"/>
          <p:cNvSpPr/>
          <p:nvPr/>
        </p:nvSpPr>
        <p:spPr>
          <a:xfrm>
            <a:off x="6711696" y="12070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6711696" y="171907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 Visibility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11696" y="19476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tracking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2697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Benefits?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57200" y="3035808"/>
            <a:ext cx="1920240" cy="914400"/>
          </a:xfrm>
          <a:prstGeom prst="rect">
            <a:avLst/>
          </a:prstGeom>
          <a:solidFill>
            <a:srgbClr val="141F33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👨‍👩‍👧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457200" y="34015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reporting, real updates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42032" y="3035808"/>
            <a:ext cx="1920240" cy="914400"/>
          </a:xfrm>
          <a:prstGeom prst="rect">
            <a:avLst/>
          </a:prstGeom>
          <a:solidFill>
            <a:srgbClr val="141F33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2032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2542032" y="34015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542032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26864" y="3035808"/>
            <a:ext cx="1920240" cy="914400"/>
          </a:xfrm>
          <a:prstGeom prst="rect">
            <a:avLst/>
          </a:prstGeom>
          <a:solidFill>
            <a:srgbClr val="141F33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26864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👷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4626864" y="34015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Teams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626864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task lists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711696" y="3035808"/>
            <a:ext cx="1920240" cy="914400"/>
          </a:xfrm>
          <a:prstGeom prst="rect">
            <a:avLst/>
          </a:prstGeom>
          <a:solidFill>
            <a:srgbClr val="141F33"/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11696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711696" y="34015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Media/NGOs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711696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accountability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371600" y="4160520"/>
            <a:ext cx="6400800" cy="65836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71600" y="416052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City Lens — One Photo. One Report. Better Cities.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752</Words>
  <Application>Microsoft Office PowerPoint</Application>
  <PresentationFormat>On-screen Show (16:9)</PresentationFormat>
  <Paragraphs>192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CivicSense — AI-Powered City Complaint Platform</dc:title>
  <dc:subject>PptxGenJS Presentation</dc:subject>
  <dc:creator>PptxGenJS</dc:creator>
  <cp:lastModifiedBy>Sarthak Goel</cp:lastModifiedBy>
  <cp:revision>2</cp:revision>
  <dcterms:created xsi:type="dcterms:W3CDTF">2026-03-24T06:30:41Z</dcterms:created>
  <dcterms:modified xsi:type="dcterms:W3CDTF">2026-04-06T08:50:17Z</dcterms:modified>
</cp:coreProperties>
</file>